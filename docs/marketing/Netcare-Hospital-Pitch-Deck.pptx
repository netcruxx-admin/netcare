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ful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48640"/>
            <a:ext cx="1392408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286000"/>
            <a:ext cx="7772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Run your whole hospital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on one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CFE8E8"/>
                </a:solidFill>
                <a:latin typeface="Calibri"/>
              </a:rPr>
              <a:t>Appointments, clinical records, IPD, pharmacy, lab, maternity and billing — set up in a day, on your own hospital address.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3291840" cy="457200"/>
          </a:xfrm>
          <a:prstGeom prst="roundRect">
            <a:avLst>
              <a:gd name="adj" fmla="val 6000"/>
            </a:avLst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yourhospital.netcare.co.in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914400"/>
            <a:ext cx="2834640" cy="5029200"/>
          </a:xfrm>
          <a:prstGeom prst="roundRect">
            <a:avLst>
              <a:gd name="adj" fmla="val 6000"/>
            </a:avLst>
          </a:prstGeom>
          <a:solidFill>
            <a:srgbClr val="0F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28016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7FE0DD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96596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834639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7FE0DD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520439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clinical &amp; admin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38912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7FE0DD"/>
                </a:solidFill>
                <a:latin typeface="Calibri"/>
              </a:rPr>
              <a:t>1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50749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to go live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20040"/>
            <a:ext cx="491314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19695"/>
                </a:solidFill>
                <a:latin typeface="Calibri"/>
              </a:rPr>
              <a:t>THE EVERYDAY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3A73"/>
                </a:solidFill>
                <a:latin typeface="Calibri"/>
              </a:rPr>
              <a:t>Running a hospital means running ten things at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Netcare  ·  Manage better. Care better.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5212080" cy="173736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64008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B3A73"/>
                </a:solidFill>
                <a:latin typeface="Calibri"/>
              </a:rPr>
              <a:t>Paper and spreadsheets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475488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A37"/>
                </a:solidFill>
                <a:latin typeface="Calibri"/>
              </a:rPr>
              <a:t>Patient files in one place, bills in another, stock in a notebook. Nothing agrees with anything.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5212080" cy="173736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468880"/>
            <a:ext cx="64008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B3A73"/>
                </a:solidFill>
                <a:latin typeface="Calibri"/>
              </a:rPr>
              <a:t>Money slips 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475488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A37"/>
                </a:solidFill>
                <a:latin typeface="Calibri"/>
              </a:rPr>
              <a:t>A medicine dispensed but not billed. A lab test done but not charged. A drug used past its expiry.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5212080" cy="173736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89120"/>
            <a:ext cx="64008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891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B3A73"/>
                </a:solidFill>
                <a:latin typeface="Calibri"/>
              </a:rPr>
              <a:t>Paperwork deadlines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00600"/>
            <a:ext cx="475488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A37"/>
                </a:solidFill>
                <a:latin typeface="Calibri"/>
              </a:rPr>
              <a:t>Drug licence, NABH, NABL, PCPNDT — each with its own renewal date, tracked in someone's head.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06240"/>
            <a:ext cx="5212080" cy="173736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389120"/>
            <a:ext cx="64008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3891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B3A73"/>
                </a:solidFill>
                <a:latin typeface="Calibri"/>
              </a:rPr>
              <a:t>Empty slots, full waiting room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00600"/>
            <a:ext cx="475488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A37"/>
                </a:solidFill>
                <a:latin typeface="Calibri"/>
              </a:rPr>
              <a:t>Doctors idle at 11, overbooked at 5, and patients who simply can't find you online.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20040"/>
            <a:ext cx="491314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19695"/>
                </a:solidFill>
                <a:latin typeface="Calibri"/>
              </a:rPr>
              <a:t>WHAT NETCARE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3A73"/>
                </a:solidFill>
                <a:latin typeface="Calibri"/>
              </a:rPr>
              <a:t>One platform. Your hospital's own address, data and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Netcare  ·  Manage better. Care better.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64008" cy="274320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0B3A73"/>
                </a:solidFill>
                <a:latin typeface="Calibri"/>
              </a:rPr>
              <a:t>Your own address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3063240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F2A37"/>
                </a:solidFill>
                <a:latin typeface="Calibri"/>
              </a:rPr>
              <a:t>Every hospital gets its own subdomain — yourhospital.netcare.co.in — with its own logo, colours and landing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46888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651760"/>
            <a:ext cx="64008" cy="2743200"/>
          </a:xfrm>
          <a:prstGeom prst="rect">
            <a:avLst/>
          </a:prstGeom>
          <a:solidFill>
            <a:srgbClr val="005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6517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0B3A73"/>
                </a:solidFill>
                <a:latin typeface="Calibri"/>
              </a:rPr>
              <a:t>Your data stays yours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063240"/>
            <a:ext cx="3063240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F2A37"/>
                </a:solidFill>
                <a:latin typeface="Calibri"/>
              </a:rPr>
              <a:t>Each hospital sees only its own patients, staff and records. Isolation is enforced in every query and tested before every release.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46888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651760"/>
            <a:ext cx="64008" cy="274320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0B3A73"/>
                </a:solidFill>
                <a:latin typeface="Calibri"/>
              </a:rPr>
              <a:t>Your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63240"/>
            <a:ext cx="3063240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F2A37"/>
                </a:solidFill>
                <a:latin typeface="Calibri"/>
              </a:rPr>
              <a:t>Six roles out of the box. Your admin can create more and decide exactly what each can see — no ticket to us, no waiting.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20040"/>
            <a:ext cx="491314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19695"/>
                </a:solidFill>
                <a:latin typeface="Calibri"/>
              </a:rPr>
              <a:t>WHAT'S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3A73"/>
                </a:solidFill>
                <a:latin typeface="Calibri"/>
              </a:rPr>
              <a:t>Everything in one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Netcare  ·  Manage better. Care better.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64008" cy="164592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945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B3A73"/>
                </a:solidFill>
                <a:latin typeface="Calibri"/>
              </a:rPr>
              <a:t>Front desk &amp; scheduling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A37"/>
                </a:solidFill>
                <a:latin typeface="Calibri"/>
              </a:rPr>
              <a:t>Appointments, doctor schedules, one-booking-per-day rule, fee schedule, video consult slots.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201168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39" y="2194560"/>
            <a:ext cx="64008" cy="1645920"/>
          </a:xfrm>
          <a:prstGeom prst="rect">
            <a:avLst/>
          </a:prstGeom>
          <a:solidFill>
            <a:srgbClr val="005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59" y="21945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B3A73"/>
                </a:solidFill>
                <a:latin typeface="Calibri"/>
              </a:rPr>
              <a:t>Clinical 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59" y="260604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A37"/>
                </a:solidFill>
                <a:latin typeface="Calibri"/>
              </a:rPr>
              <a:t>One chart per patient: records, prescriptions, vitals, specialty notes. Every entry carries the real signed-in author.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01168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2194560"/>
            <a:ext cx="64008" cy="164592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21945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B3A73"/>
                </a:solidFill>
                <a:latin typeface="Calibri"/>
              </a:rPr>
              <a:t>IPD &amp; wards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260604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A37"/>
                </a:solidFill>
                <a:latin typeface="Calibri"/>
              </a:rPr>
              <a:t>Admissions, ward and bed management, nursing and progress notes, discharge summaries, IPD billing.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01168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2194560"/>
            <a:ext cx="64008" cy="1645920"/>
          </a:xfrm>
          <a:prstGeom prst="rect">
            <a:avLst/>
          </a:prstGeom>
          <a:solidFill>
            <a:srgbClr val="005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21945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B3A73"/>
                </a:solidFill>
                <a:latin typeface="Calibri"/>
              </a:rPr>
              <a:t>Pharmacy &amp; inventory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60604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A37"/>
                </a:solidFill>
                <a:latin typeface="Calibri"/>
              </a:rPr>
              <a:t>Medicine and injectable catalogues, stock ledger, low-stock and expiry-aware dispensing.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0624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389120"/>
            <a:ext cx="64008" cy="1645920"/>
          </a:xfrm>
          <a:prstGeom prst="rect">
            <a:avLst/>
          </a:prstGeom>
          <a:solidFill>
            <a:srgbClr val="005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3891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B3A73"/>
                </a:solidFill>
                <a:latin typeface="Calibri"/>
              </a:rPr>
              <a:t>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0060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A37"/>
                </a:solidFill>
                <a:latin typeface="Calibri"/>
              </a:rPr>
              <a:t>Test catalogue, orders, results, and a separate review step before a report is released.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39" y="420624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20439" y="4389120"/>
            <a:ext cx="64008" cy="164592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4759" y="43891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B3A73"/>
                </a:solidFill>
                <a:latin typeface="Calibri"/>
              </a:rPr>
              <a:t>Maternity &amp; child health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59" y="480060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A37"/>
                </a:solidFill>
                <a:latin typeface="Calibri"/>
              </a:rPr>
              <a:t>Pregnancy and ANC visits, babies linked to the mother, growth curves, immunization schedule.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420624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4389120"/>
            <a:ext cx="64008" cy="1645920"/>
          </a:xfrm>
          <a:prstGeom prst="rect">
            <a:avLst/>
          </a:prstGeom>
          <a:solidFill>
            <a:srgbClr val="005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79" y="43891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B3A73"/>
                </a:solidFill>
                <a:latin typeface="Calibri"/>
              </a:rPr>
              <a:t>Billing &amp; payments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79" y="480060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A37"/>
                </a:solidFill>
                <a:latin typeface="Calibri"/>
              </a:rPr>
              <a:t>Server-generated invoices, consultation / pharmacy / lab summaries, Razorpay payments.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420624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98280" y="4389120"/>
            <a:ext cx="64008" cy="164592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2600" y="43891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B3A73"/>
                </a:solidFill>
                <a:latin typeface="Calibri"/>
              </a:rPr>
              <a:t>Trust &amp;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480060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A37"/>
                </a:solidFill>
                <a:latin typeface="Calibri"/>
              </a:rPr>
              <a:t>Licence-expiry tracking, DPDP-style consent records, audit log, role-based access.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20040"/>
            <a:ext cx="491314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19695"/>
                </a:solidFill>
                <a:latin typeface="Calibri"/>
              </a:rPr>
              <a:t>PROTECT YOUR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3A73"/>
                </a:solidFill>
                <a:latin typeface="Calibri"/>
              </a:rPr>
              <a:t>Stop the leaks. Every service ends up on a bill.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Netcare  ·  Manage better. Care better.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0312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0B3A73"/>
                </a:solidFill>
                <a:latin typeface="Calibri"/>
              </a:rPr>
              <a:t>Priced by the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30552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1F2A37"/>
                </a:solidFill>
                <a:latin typeface="Calibri"/>
              </a:rPr>
              <a:t>Consultation fees live on your fee schedule, by visit type. The browser can never decide what a visit costs.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172968"/>
            <a:ext cx="502920" cy="502920"/>
          </a:xfrm>
          <a:prstGeom prst="ellipse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729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27248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0B3A73"/>
                </a:solidFill>
                <a:latin typeface="Calibri"/>
              </a:rPr>
              <a:t>Dispense → bill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5468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1F2A37"/>
                </a:solidFill>
                <a:latin typeface="Calibri"/>
              </a:rPr>
              <a:t>A dispensed medicine can be billed straight from the pharmacy screen. Consultation, pharmacy, lab and injectables roll into clear summaries.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97096"/>
            <a:ext cx="502920" cy="502920"/>
          </a:xfrm>
          <a:prstGeom prst="ellipse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9709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51376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0B3A73"/>
                </a:solidFill>
                <a:latin typeface="Calibri"/>
              </a:rPr>
              <a:t>Stock that tells the truth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178808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1F2A37"/>
                </a:solidFill>
                <a:latin typeface="Calibri"/>
              </a:rPr>
              <a:t>Stock moves with real orders. Dispensing is refused if stock is short or expired — no silent mismatches. Low-stock alerts before the counter runs dry.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221224"/>
            <a:ext cx="502920" cy="502920"/>
          </a:xfrm>
          <a:prstGeom prst="ellipse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212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175504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0B3A73"/>
                </a:solidFill>
                <a:latin typeface="Calibri"/>
              </a:rPr>
              <a:t>A paper trail for everything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202936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1F2A37"/>
                </a:solidFill>
                <a:latin typeface="Calibri"/>
              </a:rPr>
              <a:t>Every restock, adjustment and action is recorded: who, what, when.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20040"/>
            <a:ext cx="491314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19695"/>
                </a:solidFill>
                <a:latin typeface="Calibri"/>
              </a:rPr>
              <a:t>WHERE NETCARE GOES DEEPER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3A73"/>
                </a:solidFill>
                <a:latin typeface="Calibri"/>
              </a:rPr>
              <a:t>Built for maternity and child health.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Netcare  ·  Manage better. Care better.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F2A37"/>
                </a:solidFill>
                <a:latin typeface="Calibri"/>
              </a:rPr>
              <a:t>Most hospital software treats a newborn as a separate, disconnected patient.</a:t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1F2A3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1F2A37"/>
                </a:solidFill>
                <a:latin typeface="Calibri"/>
              </a:rPr>
              <a:t>Netcare links the baby to the mother's record from birth — pregnancy, ANC visits, delivery, growth and immunizations on one continuous thread.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103120"/>
            <a:ext cx="2788920" cy="182880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2286000"/>
            <a:ext cx="64008" cy="146304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0B3A73"/>
                </a:solidFill>
                <a:latin typeface="Calibri"/>
              </a:rPr>
              <a:t>Pregnancy &amp; ANC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9748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A37"/>
                </a:solidFill>
                <a:latin typeface="Calibri"/>
              </a:rPr>
              <a:t>Create the record, log every antenatal visit, see the summary wherever the chart is opened.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103120"/>
            <a:ext cx="2788920" cy="182880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0" y="2286000"/>
            <a:ext cx="64008" cy="146304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28600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0B3A73"/>
                </a:solidFill>
                <a:latin typeface="Calibri"/>
              </a:rPr>
              <a:t>Baby, linked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69748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A37"/>
                </a:solidFill>
                <a:latin typeface="Calibri"/>
              </a:rPr>
              <a:t>Growth measurements tracked against standard curves.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069079"/>
            <a:ext cx="2788920" cy="182880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4251959"/>
            <a:ext cx="64008" cy="146304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4251959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0B3A73"/>
                </a:solidFill>
                <a:latin typeface="Calibri"/>
              </a:rPr>
              <a:t>Immunizations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66344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A37"/>
                </a:solidFill>
                <a:latin typeface="Calibri"/>
              </a:rPr>
              <a:t>Scheduled ahead, marked as given when administered.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4069079"/>
            <a:ext cx="2788920" cy="182880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0" y="4251959"/>
            <a:ext cx="64008" cy="146304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4251959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0B3A73"/>
                </a:solidFill>
                <a:latin typeface="Calibri"/>
              </a:rPr>
              <a:t>Consent for minors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66344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A37"/>
                </a:solidFill>
                <a:latin typeface="Calibri"/>
              </a:rPr>
              <a:t>Guardian consent routed automatically for under-18s.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20040"/>
            <a:ext cx="491314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19695"/>
                </a:solidFill>
                <a:latin typeface="Calibri"/>
              </a:rPr>
              <a:t>FOR YOUR PEACE OF 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3A73"/>
                </a:solidFill>
                <a:latin typeface="Calibri"/>
              </a:rPr>
              <a:t>Compliance and trust, built in — not bolted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Netcare  ·  Manage better. Care better.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64008" cy="1463040"/>
          </a:xfrm>
          <a:prstGeom prst="rect">
            <a:avLst/>
          </a:prstGeom>
          <a:solidFill>
            <a:srgbClr val="005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B3A73"/>
                </a:solidFill>
                <a:latin typeface="Calibri"/>
              </a:rPr>
              <a:t>Never miss a renewal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8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Calibri"/>
              </a:rPr>
              <a:t>Drug licence, NABH, NABL, PCPNDT, HFR ID — tracked with expiry dates, asked for only when your category needs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64008" cy="146304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B3A73"/>
                </a:solidFill>
                <a:latin typeface="Calibri"/>
              </a:rPr>
              <a:t>Consent that holds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Calibri"/>
              </a:rPr>
              <a:t>Itemised, withdrawable consent records designed around India's DPDP Act, guardian consent for minors, and teleconsult consent by method.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64008" cy="146304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B3A73"/>
                </a:solidFill>
                <a:latin typeface="Calibri"/>
              </a:rPr>
              <a:t>Know who did what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6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Calibri"/>
              </a:rPr>
              <a:t>A queryable audit log across the hospital. Prescriptions are always attributed to the doctor actually signed 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1480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297680"/>
            <a:ext cx="64008" cy="1463040"/>
          </a:xfrm>
          <a:prstGeom prst="rect">
            <a:avLst/>
          </a:prstGeom>
          <a:solidFill>
            <a:srgbClr val="005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B3A73"/>
                </a:solidFill>
                <a:latin typeface="Calibri"/>
              </a:rPr>
              <a:t>Least-privilege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Calibri"/>
              </a:rPr>
              <a:t>Permissions are checked live on every request. Revoke a grant and it takes effect immediately, not at next login.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80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Consent features are designed around these laws; they are not a legal compliance certificate. Have your own counsel verify.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20040"/>
            <a:ext cx="491314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19695"/>
                </a:solidFill>
                <a:latin typeface="Calibri"/>
              </a:rPr>
              <a:t>GETTING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3A73"/>
                </a:solidFill>
                <a:latin typeface="Calibri"/>
              </a:rPr>
              <a:t>From signup to your first real appointment — in a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Netcare  ·  Manage better. Care better.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697480"/>
            <a:ext cx="594360" cy="594360"/>
          </a:xfrm>
          <a:prstGeom prst="ellipse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B3A73"/>
                </a:solidFill>
                <a:latin typeface="Calibri"/>
              </a:rPr>
              <a:t>We set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77639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A37"/>
                </a:solidFill>
                <a:latin typeface="Calibri"/>
              </a:rPr>
              <a:t>Your subdomain, branding, departments, doctors and fee schedule.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246888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49039" y="2697480"/>
            <a:ext cx="594360" cy="594360"/>
          </a:xfrm>
          <a:prstGeom prst="ellipse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269748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4747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B3A73"/>
                </a:solidFill>
                <a:latin typeface="Calibri"/>
              </a:rPr>
              <a:t>We import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977639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A37"/>
                </a:solidFill>
                <a:latin typeface="Calibri"/>
              </a:rPr>
              <a:t>Your existing patients and stock from Excel or your old system.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246888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59" y="2697480"/>
            <a:ext cx="594360" cy="594360"/>
          </a:xfrm>
          <a:prstGeom prst="ellipse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269748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4747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B3A73"/>
                </a:solidFill>
                <a:latin typeface="Calibri"/>
              </a:rPr>
              <a:t>We 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977639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A37"/>
                </a:solidFill>
                <a:latin typeface="Calibri"/>
              </a:rPr>
              <a:t>A short session for reception, doctors, nurses, pharmacy and lab.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46888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0" y="2697480"/>
            <a:ext cx="594360" cy="594360"/>
          </a:xfrm>
          <a:prstGeom prst="ellipse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269748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4747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B3A73"/>
                </a:solidFill>
                <a:latin typeface="Calibri"/>
              </a:rPr>
              <a:t>You go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977639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A37"/>
                </a:solidFill>
                <a:latin typeface="Calibri"/>
              </a:rPr>
              <a:t>Book the first appointment. We stay on call for week 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19695"/>
                </a:solidFill>
                <a:latin typeface="Calibri"/>
              </a:rPr>
              <a:t>No custom install. No on-site consultant. Staff and patients use it in any browser — nothing to download.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20040"/>
            <a:ext cx="491314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19695"/>
                </a:solidFill>
                <a:latin typeface="Calibri"/>
              </a:rPr>
              <a:t>BEYOND SOFTWARE — NEW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3A73"/>
                </a:solidFill>
                <a:latin typeface="Calibri"/>
              </a:rPr>
              <a:t>Coming soon: patients find you on netcare.co.in.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Netcare  ·  Manage better. Care better.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120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F2A37"/>
                </a:solidFill>
                <a:latin typeface="Calibri"/>
              </a:rPr>
              <a:t>We're opening the Netcare main site to the local public.</a:t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1F2A3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1F2A37"/>
                </a:solidFill>
                <a:latin typeface="Calibri"/>
              </a:rPr>
              <a:t>People search for hospitals and doctors near them, see real open slots, and book. The booking lands on your normal appointments board.</a:t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1F2A3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1F2A37"/>
                </a:solidFill>
                <a:latin typeface="Calibri"/>
              </a:rPr>
              <a:t>You choose which doctors appear, and you can pause it any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286000"/>
            <a:ext cx="64008" cy="868680"/>
          </a:xfrm>
          <a:prstGeom prst="rect">
            <a:avLst/>
          </a:prstGeom>
          <a:solidFill>
            <a:srgbClr val="005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B3A73"/>
                </a:solidFill>
                <a:latin typeface="Calibri"/>
              </a:rPr>
              <a:t>You stay in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Calibri"/>
              </a:rPr>
              <a:t>Opt-in listing. You pick the doctors and daily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47472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657600"/>
            <a:ext cx="64008" cy="868680"/>
          </a:xfrm>
          <a:prstGeom prst="rect">
            <a:avLst/>
          </a:prstGeom>
          <a:solidFill>
            <a:srgbClr val="005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6576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B3A73"/>
                </a:solidFill>
                <a:latin typeface="Calibri"/>
              </a:rPr>
              <a:t>Real slots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6908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Calibri"/>
              </a:rPr>
              <a:t>Patients see open times, never other patients' names.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84632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5029200"/>
            <a:ext cx="64008" cy="868680"/>
          </a:xfrm>
          <a:prstGeom prst="rect">
            <a:avLst/>
          </a:prstGeom>
          <a:solidFill>
            <a:srgbClr val="005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50292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B3A73"/>
                </a:solidFill>
                <a:latin typeface="Calibri"/>
              </a:rPr>
              <a:t>Same board, new patients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44068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Calibri"/>
              </a:rPr>
              <a:t>Public bookings appear alongside your 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669280"/>
            <a:ext cx="5120640" cy="41148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5120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IN DEVELOPMENT — founding hospitals shape it with 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20040"/>
            <a:ext cx="491314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19695"/>
                </a:solidFill>
                <a:latin typeface="Calibri"/>
              </a:rPr>
              <a:t>THE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3A73"/>
                </a:solidFill>
                <a:latin typeface="Calibri"/>
              </a:rPr>
              <a:t>Try it on your own hospital. We do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Netcare  ·  Manage better. Care better.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0B3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7FE0DD"/>
                </a:solidFill>
                <a:latin typeface="Calibri"/>
              </a:rPr>
              <a:t>[30]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Free pilot — no card, no commitment. [Confirm the length before sharing.]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37744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0B3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6517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7FE0DD"/>
                </a:solidFill>
                <a:latin typeface="Calibri"/>
              </a:rPr>
              <a:t>Done for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566160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We configure it and import your data. You don't type it all in again.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37744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0B3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6517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7FE0DD"/>
                </a:solidFill>
                <a:latin typeface="Calibri"/>
              </a:rPr>
              <a:t>Your data is yours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566160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Leave any time and take your data with you.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19695"/>
                </a:solidFill>
                <a:latin typeface="Calibri"/>
              </a:rPr>
              <a:t>Simple monthly pricing. Ask for a quote for your hospital's size.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19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ful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48640"/>
            <a:ext cx="1193492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920240"/>
            <a:ext cx="8229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Let's set up your hospital</a:t>
            </a:r>
          </a:p>
          <a:p>
            <a:pPr algn="l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this week.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7315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CFE8E8"/>
                </a:solidFill>
                <a:latin typeface="Calibri"/>
              </a:rPr>
              <a:t>See a 15-minute live demo, then start a pilot.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CFE8E8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CFE8E8"/>
                </a:solidFill>
                <a:latin typeface="Calibri"/>
              </a:rPr>
              <a:t>[Your name]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CFE8E8"/>
                </a:solidFill>
                <a:latin typeface="Calibri"/>
              </a:rPr>
              <a:t>[Phone / WhatsApp]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CFE8E8"/>
                </a:solidFill>
                <a:latin typeface="Calibri"/>
              </a:rPr>
              <a:t>[Email]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CFE8E8"/>
                </a:solidFill>
                <a:latin typeface="Calibri"/>
              </a:rPr>
              <a:t>netcare.co.in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E0DD"/>
                </a:solidFill>
                <a:latin typeface="Calibri"/>
              </a:rPr>
              <a:t>Fill the bracketed contact details before sharing.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